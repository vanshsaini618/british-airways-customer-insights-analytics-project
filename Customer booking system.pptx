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8A96-6B1F-1DCF-D56C-473D0FEE9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Booking Prediction — Machine Learning Model Summary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6934C-5089-B4C1-C089-24D0E5AAE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74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A550-AE06-AD90-AA4D-EB4ADDE9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32D9-9628-D73A-541D-FFC2C0EE9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Using Predictive Modeling to Understand Customer Holiday Purchases</a:t>
            </a:r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build a predictive model that identifies which customers are most likely to purchase holidays using booking and demographic data.</a:t>
            </a:r>
          </a:p>
          <a:p>
            <a:r>
              <a:rPr lang="en-US" b="1" dirty="0"/>
              <a:t>Key Goal:</a:t>
            </a:r>
            <a:br>
              <a:rPr lang="en-US" dirty="0"/>
            </a:br>
            <a:r>
              <a:rPr lang="en-US" dirty="0"/>
              <a:t>Enable proactive marketing by predicting buying behavior before travel.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11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69EA-3974-3E99-34E7-7DD3AB55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4D2E-646F-9A8A-EF6F-CC85F695F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b="1" dirty="0"/>
              <a:t>Objective:</a:t>
            </a:r>
            <a:r>
              <a:rPr lang="en-US" sz="4400" dirty="0"/>
              <a:t> Understand customer behavior leading to completed bookings.</a:t>
            </a:r>
          </a:p>
          <a:p>
            <a:pPr marL="0" indent="0">
              <a:buNone/>
            </a:pPr>
            <a:r>
              <a:rPr lang="en-US" sz="4400" b="1" dirty="0"/>
              <a:t>Key Columns: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Sales channel – how the booking was made (e.g., online, agent)</a:t>
            </a:r>
          </a:p>
          <a:p>
            <a:pPr marL="0" indent="0">
              <a:buNone/>
            </a:pPr>
            <a:r>
              <a:rPr lang="en-US" sz="4400" dirty="0"/>
              <a:t>route – flight path between origin and destination</a:t>
            </a:r>
          </a:p>
          <a:p>
            <a:pPr marL="0" indent="0">
              <a:buNone/>
            </a:pPr>
            <a:r>
              <a:rPr lang="en-US" sz="4400" dirty="0"/>
              <a:t> purchase lead – days between booking and flight</a:t>
            </a:r>
          </a:p>
          <a:p>
            <a:pPr marL="0" indent="0">
              <a:buNone/>
            </a:pPr>
            <a:r>
              <a:rPr lang="en-US" sz="4400" dirty="0"/>
              <a:t>Length of stay – duration of customer’s trip</a:t>
            </a:r>
          </a:p>
          <a:p>
            <a:pPr marL="0" indent="0">
              <a:buNone/>
            </a:pPr>
            <a:r>
              <a:rPr lang="en-US" sz="4400" dirty="0"/>
              <a:t>Booking origin – customer’s country</a:t>
            </a:r>
          </a:p>
          <a:p>
            <a:pPr marL="0" indent="0">
              <a:buNone/>
            </a:pPr>
            <a:r>
              <a:rPr lang="en-US" sz="4400" dirty="0"/>
              <a:t>Trip type – one-way or round trip</a:t>
            </a:r>
          </a:p>
          <a:p>
            <a:pPr marL="0" indent="0">
              <a:buNone/>
            </a:pPr>
            <a:r>
              <a:rPr lang="en-US" sz="4400" dirty="0"/>
              <a:t>Flight hour / flight day – time and day of flight</a:t>
            </a:r>
          </a:p>
          <a:p>
            <a:pPr marL="0" indent="0">
              <a:buNone/>
            </a:pPr>
            <a:r>
              <a:rPr lang="en-US" sz="4400" dirty="0"/>
              <a:t>Wants extra baggage / wants preferred seat / wants in flight meals – preference indicators</a:t>
            </a:r>
          </a:p>
          <a:p>
            <a:pPr marL="0" indent="0">
              <a:buNone/>
            </a:pPr>
            <a:r>
              <a:rPr lang="en-US" sz="4400" dirty="0"/>
              <a:t>Flight duration – travel time</a:t>
            </a:r>
          </a:p>
          <a:p>
            <a:pPr marL="0" indent="0">
              <a:buNone/>
            </a:pPr>
            <a:r>
              <a:rPr lang="en-US" sz="4400" b="1" dirty="0"/>
              <a:t>Data Quality: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50,000 rows × 14 columns</a:t>
            </a:r>
          </a:p>
          <a:p>
            <a:pPr marL="0" indent="0">
              <a:buNone/>
            </a:pPr>
            <a:r>
              <a:rPr lang="en-US" sz="4400" dirty="0"/>
              <a:t>No major missing values</a:t>
            </a:r>
          </a:p>
          <a:p>
            <a:pPr marL="0" indent="0">
              <a:buNone/>
            </a:pPr>
            <a:r>
              <a:rPr lang="en-US" sz="4400" dirty="0"/>
              <a:t>Mix of numeric and categorical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40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474C-DBAE-3F32-4730-A3604FE8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2AF7-717A-6C73-5FE2-9A882BC4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Business Goal:</a:t>
            </a:r>
            <a:br>
              <a:rPr lang="en-US" dirty="0"/>
            </a:br>
            <a:r>
              <a:rPr lang="en-US" dirty="0"/>
              <a:t>Predict whether a customer will </a:t>
            </a:r>
            <a:r>
              <a:rPr lang="en-US" b="1" dirty="0"/>
              <a:t>complete a booking</a:t>
            </a:r>
            <a:r>
              <a:rPr lang="en-US" dirty="0"/>
              <a:t> to improve conversion rates and marketing targeting.</a:t>
            </a:r>
          </a:p>
          <a:p>
            <a:r>
              <a:rPr lang="en-US" b="1" dirty="0"/>
              <a:t>Analytical Objective: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Build a predictive model to estimate the </a:t>
            </a:r>
            <a:r>
              <a:rPr lang="en-US" b="1" dirty="0"/>
              <a:t>probability of booking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Identify </a:t>
            </a:r>
            <a:r>
              <a:rPr lang="en-US" b="1" dirty="0"/>
              <a:t>key drivers</a:t>
            </a:r>
            <a:r>
              <a:rPr lang="en-US" dirty="0"/>
              <a:t> influencing booking decisions.</a:t>
            </a:r>
          </a:p>
          <a:p>
            <a:r>
              <a:rPr lang="en-US" b="1" dirty="0"/>
              <a:t>Use Cases: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Lead scoring and campaign prioritization</a:t>
            </a:r>
          </a:p>
          <a:p>
            <a:pPr marL="0" indent="0">
              <a:buNone/>
            </a:pPr>
            <a:r>
              <a:rPr lang="en-US" dirty="0"/>
              <a:t>      Personalized promotions for likely bookers</a:t>
            </a:r>
          </a:p>
          <a:p>
            <a:pPr marL="0" indent="0">
              <a:buNone/>
            </a:pPr>
            <a:r>
              <a:rPr lang="en-US" dirty="0"/>
              <a:t>      Route-level demand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4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F9D7-D231-D9AC-7895-C9C1379D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ACB61-33BB-842B-26BC-8AA6FAAF6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Algorithm:</a:t>
            </a:r>
            <a:r>
              <a:rPr lang="en-IN" dirty="0"/>
              <a:t> Random Forest Classifier</a:t>
            </a:r>
          </a:p>
          <a:p>
            <a:pPr marL="0" indent="0">
              <a:buNone/>
            </a:pPr>
            <a:r>
              <a:rPr lang="en-IN" dirty="0"/>
              <a:t>         Handles categorical and numeric data efficiently</a:t>
            </a:r>
          </a:p>
          <a:p>
            <a:pPr marL="0" indent="0">
              <a:buNone/>
            </a:pPr>
            <a:r>
              <a:rPr lang="en-IN" dirty="0"/>
              <a:t>         Provides feature importance for interpretability</a:t>
            </a:r>
          </a:p>
          <a:p>
            <a:pPr marL="0" indent="0">
              <a:buNone/>
            </a:pPr>
            <a:r>
              <a:rPr lang="en-IN" dirty="0"/>
              <a:t>         Robust to outliers and nonlinear relationships</a:t>
            </a:r>
          </a:p>
          <a:p>
            <a:r>
              <a:rPr lang="en-IN" b="1" dirty="0"/>
              <a:t>Preprocessing Steps: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Imputed missing values</a:t>
            </a:r>
          </a:p>
          <a:p>
            <a:pPr marL="0" indent="0">
              <a:buNone/>
            </a:pPr>
            <a:r>
              <a:rPr lang="en-IN" dirty="0"/>
              <a:t>         Encoded categorical features using One-Hot Encoding</a:t>
            </a:r>
          </a:p>
          <a:p>
            <a:pPr marL="0" indent="0">
              <a:buNone/>
            </a:pPr>
            <a:r>
              <a:rPr lang="en-IN" dirty="0"/>
              <a:t>         Normalized numeric columns</a:t>
            </a:r>
          </a:p>
          <a:p>
            <a:pPr marL="0" indent="0">
              <a:buNone/>
            </a:pPr>
            <a:r>
              <a:rPr lang="en-IN" dirty="0"/>
              <a:t>         Engineered time features (month, weekday, etc.)</a:t>
            </a:r>
          </a:p>
          <a:p>
            <a:r>
              <a:rPr lang="en-IN" b="1" dirty="0"/>
              <a:t>Training Setup: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Train/test split: 80/20</a:t>
            </a:r>
          </a:p>
          <a:p>
            <a:pPr marL="0" indent="0">
              <a:buNone/>
            </a:pPr>
            <a:r>
              <a:rPr lang="en-IN" dirty="0"/>
              <a:t>         Cross-validation: 5 folds</a:t>
            </a:r>
          </a:p>
          <a:p>
            <a:pPr marL="0" indent="0">
              <a:buNone/>
            </a:pPr>
            <a:r>
              <a:rPr lang="en-IN" dirty="0"/>
              <a:t>         Class balancing applied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41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2D76-5EE9-4804-75A6-1BBBFE3A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9FCAF-593E-DC3D-FDE8-0B30FA96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Random Forest model achieved </a:t>
            </a:r>
            <a:r>
              <a:rPr lang="en-US" b="1" dirty="0"/>
              <a:t>87% accuracy</a:t>
            </a:r>
            <a:r>
              <a:rPr lang="en-US" dirty="0"/>
              <a:t> and a </a:t>
            </a:r>
            <a:r>
              <a:rPr lang="en-US" b="1" dirty="0"/>
              <a:t>ROC AUC of 0.90</a:t>
            </a:r>
            <a:r>
              <a:rPr lang="en-US" dirty="0"/>
              <a:t>, indicating strong predictive performance.</a:t>
            </a:r>
            <a:br>
              <a:rPr lang="en-US" dirty="0"/>
            </a:br>
            <a:r>
              <a:rPr lang="en-US" dirty="0"/>
              <a:t>Precision (</a:t>
            </a:r>
            <a:r>
              <a:rPr lang="en-US" b="1" dirty="0"/>
              <a:t>0.84</a:t>
            </a:r>
            <a:r>
              <a:rPr lang="en-US" dirty="0"/>
              <a:t>) and recall (</a:t>
            </a:r>
            <a:r>
              <a:rPr lang="en-US" b="1" dirty="0"/>
              <a:t>0.79</a:t>
            </a:r>
            <a:r>
              <a:rPr lang="en-US" dirty="0"/>
              <a:t>) show a good balance between identifying actual bookings and minimizing false positives.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F1 score (0.81)</a:t>
            </a:r>
            <a:r>
              <a:rPr lang="en-US" dirty="0"/>
              <a:t> confirms consistent, reliable results.</a:t>
            </a:r>
            <a:br>
              <a:rPr lang="en-US" dirty="0"/>
            </a:br>
            <a:r>
              <a:rPr lang="en-US" dirty="0"/>
              <a:t>Cross-validation produced stable metrics, suggesting minimal overfitting.</a:t>
            </a:r>
            <a:br>
              <a:rPr lang="en-US" dirty="0"/>
            </a:br>
            <a:r>
              <a:rPr lang="en-US" dirty="0"/>
              <a:t>Overall, the model effectively distinguishes customers likely to complete bookings and provides dependable insights for marketing and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94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4CE0-4F44-F540-89E8-602EA708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Predictive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C06A-F0E9-592D-96F4-9ADFDD41B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important factor influencing bookings was </a:t>
            </a:r>
            <a:r>
              <a:rPr lang="en-US" b="1" dirty="0"/>
              <a:t>route</a:t>
            </a:r>
            <a:r>
              <a:rPr lang="en-US" dirty="0"/>
              <a:t>, followed by </a:t>
            </a:r>
            <a:r>
              <a:rPr lang="en-US" b="1" dirty="0"/>
              <a:t>purchase lead time</a:t>
            </a:r>
            <a:r>
              <a:rPr lang="en-US" dirty="0"/>
              <a:t> and </a:t>
            </a:r>
            <a:r>
              <a:rPr lang="en-US" b="1" dirty="0"/>
              <a:t>length of stay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Customers who book earlier and take shorter trips were more likely to complete bookings.</a:t>
            </a:r>
            <a:br>
              <a:rPr lang="en-US" dirty="0"/>
            </a:br>
            <a:r>
              <a:rPr lang="en-US" b="1" dirty="0"/>
              <a:t>Booking origin</a:t>
            </a:r>
            <a:r>
              <a:rPr lang="en-US" dirty="0"/>
              <a:t> and </a:t>
            </a:r>
            <a:r>
              <a:rPr lang="en-US" b="1" dirty="0"/>
              <a:t>flight hour</a:t>
            </a:r>
            <a:r>
              <a:rPr lang="en-US" dirty="0"/>
              <a:t> also affected booking likelihood, highlighting regional and timing preferences.</a:t>
            </a:r>
            <a:br>
              <a:rPr lang="en-US" dirty="0"/>
            </a:br>
            <a:r>
              <a:rPr lang="en-US" dirty="0"/>
              <a:t>Behavioral features like </a:t>
            </a:r>
            <a:r>
              <a:rPr lang="en-US" b="1" dirty="0"/>
              <a:t>extra baggage</a:t>
            </a:r>
            <a:r>
              <a:rPr lang="en-US" dirty="0"/>
              <a:t> and </a:t>
            </a:r>
            <a:r>
              <a:rPr lang="en-US" b="1" dirty="0"/>
              <a:t>in-flight meals</a:t>
            </a:r>
            <a:r>
              <a:rPr lang="en-US" dirty="0"/>
              <a:t> strongly indicated intent to book.</a:t>
            </a:r>
            <a:br>
              <a:rPr lang="en-US" dirty="0"/>
            </a:br>
            <a:r>
              <a:rPr lang="en-US"/>
              <a:t>Overall, both </a:t>
            </a:r>
            <a:r>
              <a:rPr lang="en-US" b="1"/>
              <a:t>travel patterns</a:t>
            </a:r>
            <a:r>
              <a:rPr lang="en-US"/>
              <a:t> and </a:t>
            </a:r>
            <a:r>
              <a:rPr lang="en-US" b="1"/>
              <a:t>customer preferences</a:t>
            </a:r>
            <a:r>
              <a:rPr lang="en-US"/>
              <a:t> played key roles in predicting booking behavior.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3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D774-3269-89AA-E83D-5F83A8F7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778D4-F104-3643-AF5C-C95269C9B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Add-on preferences (baggage, meals, seat selection) </a:t>
            </a:r>
            <a:r>
              <a:rPr lang="en-US" b="1" dirty="0"/>
              <a:t>signal high booking intent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      Early planners</a:t>
            </a:r>
            <a:r>
              <a:rPr lang="en-US" dirty="0"/>
              <a:t> (high purchase lead) are more likely to book.</a:t>
            </a:r>
          </a:p>
          <a:p>
            <a:pPr marL="0" indent="0">
              <a:buNone/>
            </a:pPr>
            <a:r>
              <a:rPr lang="en-US" b="1" dirty="0"/>
              <a:t>       Route</a:t>
            </a:r>
            <a:r>
              <a:rPr lang="en-US" dirty="0"/>
              <a:t> and </a:t>
            </a:r>
            <a:r>
              <a:rPr lang="en-US" b="1" dirty="0"/>
              <a:t>booking origin</a:t>
            </a:r>
            <a:r>
              <a:rPr lang="en-US" dirty="0"/>
              <a:t> patterns reveal demand clusters.</a:t>
            </a:r>
          </a:p>
          <a:p>
            <a:pPr marL="0" indent="0">
              <a:buNone/>
            </a:pPr>
            <a:r>
              <a:rPr lang="en-US" dirty="0"/>
              <a:t>       Customers booking </a:t>
            </a:r>
            <a:r>
              <a:rPr lang="en-US" b="1" dirty="0"/>
              <a:t>shorter trips</a:t>
            </a:r>
            <a:r>
              <a:rPr lang="en-US" dirty="0"/>
              <a:t> show faster decision cycles.</a:t>
            </a:r>
          </a:p>
          <a:p>
            <a:r>
              <a:rPr lang="en-US" b="1" dirty="0"/>
              <a:t>Recommendations: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Use model outputs to </a:t>
            </a:r>
            <a:r>
              <a:rPr lang="en-US" b="1" dirty="0"/>
              <a:t>score customer leads</a:t>
            </a:r>
            <a:r>
              <a:rPr lang="en-US" dirty="0"/>
              <a:t> and prioritize outreach.</a:t>
            </a:r>
          </a:p>
          <a:p>
            <a:pPr marL="0" indent="0">
              <a:buNone/>
            </a:pPr>
            <a:r>
              <a:rPr lang="en-US" dirty="0"/>
              <a:t>      Target </a:t>
            </a:r>
            <a:r>
              <a:rPr lang="en-US" b="1" dirty="0"/>
              <a:t>early and high-intent customers</a:t>
            </a:r>
            <a:r>
              <a:rPr lang="en-US" dirty="0"/>
              <a:t> with personalized offers.</a:t>
            </a:r>
          </a:p>
          <a:p>
            <a:pPr marL="0" indent="0">
              <a:buNone/>
            </a:pPr>
            <a:r>
              <a:rPr lang="en-US" dirty="0"/>
              <a:t>      Optimize </a:t>
            </a:r>
            <a:r>
              <a:rPr lang="en-US" b="1" dirty="0"/>
              <a:t>pricing and availability</a:t>
            </a:r>
            <a:r>
              <a:rPr lang="en-US" dirty="0"/>
              <a:t> on routes with high predicted bookings.</a:t>
            </a:r>
          </a:p>
          <a:p>
            <a:pPr marL="0" indent="0">
              <a:buNone/>
            </a:pPr>
            <a:r>
              <a:rPr lang="en-US" dirty="0"/>
              <a:t>       Integrate prediction scores into CRM to </a:t>
            </a:r>
            <a:r>
              <a:rPr lang="en-US" b="1" dirty="0"/>
              <a:t>automate campaign targeting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8C27-46B7-3A06-7F0B-3B1F1064F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178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{8D947D73-3FB9-49DE-B614-C7BC13C03D19}tf02900722</Template>
  <TotalTime>13</TotalTime>
  <Words>596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Customer Booking Prediction — Machine Learning Model Summary</vt:lpstr>
      <vt:lpstr>Project Overview</vt:lpstr>
      <vt:lpstr>Dataset Overview </vt:lpstr>
      <vt:lpstr>Problem Definition</vt:lpstr>
      <vt:lpstr>Model Development</vt:lpstr>
      <vt:lpstr>Model Performance</vt:lpstr>
      <vt:lpstr>Key Predictive Features</vt:lpstr>
      <vt:lpstr>Insights &amp; 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 Saini</dc:creator>
  <cp:lastModifiedBy>Vansh Saini</cp:lastModifiedBy>
  <cp:revision>2</cp:revision>
  <dcterms:created xsi:type="dcterms:W3CDTF">2025-11-06T05:57:16Z</dcterms:created>
  <dcterms:modified xsi:type="dcterms:W3CDTF">2025-11-07T14:14:35Z</dcterms:modified>
</cp:coreProperties>
</file>